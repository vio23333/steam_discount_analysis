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66" r:id="rId3"/>
    <p:sldId id="264" r:id="rId4"/>
    <p:sldId id="262" r:id="rId5"/>
    <p:sldId id="258" r:id="rId6"/>
    <p:sldId id="259" r:id="rId7"/>
    <p:sldId id="263" r:id="rId8"/>
    <p:sldId id="260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k1\OneDrive\&#26700;&#38754;\&#23416;&#26657;&#29289;\&#38754;&#35430;&#29992;&#23560;&#38988;\steam&#29305;&#20729;&#36938;&#25138;&#20998;&#26512;&#23560;&#38988;\analysis_report\steam&#29305;&#24800;&#36938;&#25138;&#36039;&#26009;&#20998;&#2651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k1\OneDrive\&#26700;&#38754;\&#23416;&#26657;&#29289;\&#38754;&#35430;&#29992;&#23560;&#38988;\steam&#29305;&#20729;&#36938;&#25138;&#20998;&#26512;&#23560;&#38988;\analysis_report\steam&#29305;&#24800;&#36938;&#25138;&#36039;&#26009;&#20998;&#2651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k1\OneDrive\&#26700;&#38754;\&#23416;&#26657;&#29289;\&#38754;&#35430;&#29992;&#23560;&#38988;\steam&#29305;&#20729;&#36938;&#25138;&#20998;&#26512;&#23560;&#38988;\analysis_report\steam&#29305;&#24800;&#36938;&#25138;&#36039;&#26009;&#20998;&#2651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k1\OneDrive\&#26700;&#38754;\&#23416;&#26657;&#29289;\&#38754;&#35430;&#29992;&#23560;&#38988;\steam&#29305;&#20729;&#36938;&#25138;&#20998;&#26512;&#23560;&#38988;\analysis_report\steam&#29305;&#24800;&#36938;&#25138;&#36039;&#26009;&#20998;&#2651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k1\OneDrive\&#26700;&#38754;\&#23416;&#26657;&#29289;\&#38754;&#35430;&#29992;&#23560;&#38988;\steam&#29305;&#20729;&#36938;&#25138;&#20998;&#26512;&#23560;&#38988;\analysis_report\steam&#29305;&#24800;&#36938;&#25138;&#36039;&#26009;&#20998;&#2651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k1\OneDrive\&#26700;&#38754;\&#23416;&#26657;&#29289;\&#38754;&#35430;&#29992;&#23560;&#38988;\steam&#29305;&#20729;&#36938;&#25138;&#20998;&#26512;&#23560;&#38988;\analysis_report\steam&#29305;&#24800;&#36938;&#25138;&#36039;&#26009;&#20998;&#26512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'折扣等級_上市年數(年)'!$A$60</c:f>
              <c:strCache>
                <c:ptCount val="1"/>
                <c:pt idx="0">
                  <c:v>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'折扣等級_上市年數(年)'!$B$59:$M$59</c:f>
              <c:strCach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&gt;=11</c:v>
                </c:pt>
              </c:strCache>
            </c:strRef>
          </c:cat>
          <c:val>
            <c:numRef>
              <c:f>'折扣等級_上市年數(年)'!$B$60:$M$60</c:f>
              <c:numCache>
                <c:formatCode>General</c:formatCode>
                <c:ptCount val="12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8</c:v>
                </c:pt>
                <c:pt idx="9">
                  <c:v>8</c:v>
                </c:pt>
                <c:pt idx="10">
                  <c:v>5</c:v>
                </c:pt>
                <c:pt idx="11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30-4DAE-A55F-772D253E0B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7128192"/>
        <c:axId val="567143552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'折扣等級_上市年數(年)'!$A$61</c15:sqref>
                        </c15:formulaRef>
                      </c:ext>
                    </c:extLst>
                    <c:strCache>
                      <c:ptCount val="1"/>
                      <c:pt idx="0">
                        <c:v>N2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strRef>
                    <c:extLst>
                      <c:ext uri="{02D57815-91ED-43cb-92C2-25804820EDAC}">
                        <c15:formulaRef>
                          <c15:sqref>'折扣等級_上市年數(年)'!$B$59:$M$59</c15:sqref>
                        </c15:formulaRef>
                      </c:ext>
                    </c:extLst>
                    <c:strCache>
                      <c:ptCount val="12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&gt;=11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'折扣等級_上市年數(年)'!$B$61:$M$61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3</c:v>
                      </c:pt>
                      <c:pt idx="1">
                        <c:v>4</c:v>
                      </c:pt>
                      <c:pt idx="2">
                        <c:v>3</c:v>
                      </c:pt>
                      <c:pt idx="3">
                        <c:v>8</c:v>
                      </c:pt>
                      <c:pt idx="4">
                        <c:v>6</c:v>
                      </c:pt>
                      <c:pt idx="5">
                        <c:v>8</c:v>
                      </c:pt>
                      <c:pt idx="6">
                        <c:v>8</c:v>
                      </c:pt>
                      <c:pt idx="7">
                        <c:v>8</c:v>
                      </c:pt>
                      <c:pt idx="8">
                        <c:v>5</c:v>
                      </c:pt>
                      <c:pt idx="9">
                        <c:v>5</c:v>
                      </c:pt>
                      <c:pt idx="10">
                        <c:v>8</c:v>
                      </c:pt>
                      <c:pt idx="11">
                        <c:v>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6930-4DAE-A55F-772D253E0B84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'折扣等級_上市年數(年)'!$A$62</c15:sqref>
                        </c15:formulaRef>
                      </c:ext>
                    </c:extLst>
                    <c:strCache>
                      <c:ptCount val="1"/>
                      <c:pt idx="0">
                        <c:v>N3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6"/>
                    </a:solidFill>
                    <a:ln w="9525">
                      <a:solidFill>
                        <a:schemeClr val="accent6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'折扣等級_上市年數(年)'!$B$59:$M$59</c15:sqref>
                        </c15:formulaRef>
                      </c:ext>
                    </c:extLst>
                    <c:strCache>
                      <c:ptCount val="12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&gt;=11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'折扣等級_上市年數(年)'!$B$62:$M$62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4</c:v>
                      </c:pt>
                      <c:pt idx="1">
                        <c:v>3</c:v>
                      </c:pt>
                      <c:pt idx="2">
                        <c:v>8</c:v>
                      </c:pt>
                      <c:pt idx="3">
                        <c:v>6</c:v>
                      </c:pt>
                      <c:pt idx="4">
                        <c:v>3</c:v>
                      </c:pt>
                      <c:pt idx="5">
                        <c:v>6</c:v>
                      </c:pt>
                      <c:pt idx="6">
                        <c:v>3</c:v>
                      </c:pt>
                      <c:pt idx="7">
                        <c:v>6</c:v>
                      </c:pt>
                      <c:pt idx="8">
                        <c:v>6</c:v>
                      </c:pt>
                      <c:pt idx="9">
                        <c:v>6</c:v>
                      </c:pt>
                      <c:pt idx="10">
                        <c:v>9</c:v>
                      </c:pt>
                      <c:pt idx="11">
                        <c:v>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6930-4DAE-A55F-772D253E0B84}"/>
                  </c:ext>
                </c:extLst>
              </c15:ser>
            </c15:filteredLineSeries>
          </c:ext>
        </c:extLst>
      </c:lineChart>
      <c:catAx>
        <c:axId val="567128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/>
                  <a:t>上市年數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7143552"/>
        <c:crosses val="autoZero"/>
        <c:auto val="1"/>
        <c:lblAlgn val="ctr"/>
        <c:lblOffset val="100"/>
        <c:noMultiLvlLbl val="0"/>
      </c:catAx>
      <c:valAx>
        <c:axId val="567143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wordArtVertRtl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/>
                  <a:t>折扣等級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wordArtVertRtl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7128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折扣等級_評價等級!$A$37</c:f>
              <c:strCache>
                <c:ptCount val="1"/>
                <c:pt idx="0">
                  <c:v>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折扣等級_評價等級!$B$36:$G$36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折扣等級_評價等級!$B$37:$G$37</c:f>
              <c:numCache>
                <c:formatCode>General</c:formatCode>
                <c:ptCount val="6"/>
                <c:pt idx="0">
                  <c:v>8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8F-421C-87E1-235A6430056E}"/>
            </c:ext>
          </c:extLst>
        </c:ser>
        <c:ser>
          <c:idx val="1"/>
          <c:order val="1"/>
          <c:tx>
            <c:strRef>
              <c:f>折扣等級_評價等級!$A$38</c:f>
              <c:strCache>
                <c:ptCount val="1"/>
                <c:pt idx="0">
                  <c:v>N2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折扣等級_評價等級!$B$36:$G$36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折扣等級_評價等級!$B$38:$G$38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3</c:v>
                </c:pt>
                <c:pt idx="3">
                  <c:v>8</c:v>
                </c:pt>
                <c:pt idx="4">
                  <c:v>8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8F-421C-87E1-235A6430056E}"/>
            </c:ext>
          </c:extLst>
        </c:ser>
        <c:ser>
          <c:idx val="2"/>
          <c:order val="2"/>
          <c:tx>
            <c:strRef>
              <c:f>折扣等級_評價等級!$A$39</c:f>
              <c:strCache>
                <c:ptCount val="1"/>
                <c:pt idx="0">
                  <c:v>N3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折扣等級_評價等級!$B$36:$G$36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折扣等級_評價等級!$B$39:$G$39</c:f>
              <c:numCache>
                <c:formatCode>General</c:formatCode>
                <c:ptCount val="6"/>
                <c:pt idx="0">
                  <c:v>2</c:v>
                </c:pt>
                <c:pt idx="1">
                  <c:v>6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8F-421C-87E1-235A643005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7740656"/>
        <c:axId val="1357736336"/>
      </c:lineChart>
      <c:catAx>
        <c:axId val="13577406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/>
                  <a:t>評價分數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57736336"/>
        <c:crosses val="autoZero"/>
        <c:auto val="1"/>
        <c:lblAlgn val="ctr"/>
        <c:lblOffset val="100"/>
        <c:noMultiLvlLbl val="0"/>
      </c:catAx>
      <c:valAx>
        <c:axId val="135773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wordArtVertRtl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/>
                  <a:t>折扣等級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wordArtVertRtl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5774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折扣等級_原價等級!$A$39</c:f>
              <c:strCache>
                <c:ptCount val="1"/>
                <c:pt idx="0">
                  <c:v>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折扣等級_原價等級!$B$38:$L$38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cat>
          <c:val>
            <c:numRef>
              <c:f>折扣等級_原價等級!$B$39:$L$39</c:f>
              <c:numCache>
                <c:formatCode>General</c:formatCode>
                <c:ptCount val="11"/>
                <c:pt idx="0">
                  <c:v>5</c:v>
                </c:pt>
                <c:pt idx="1">
                  <c:v>5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5</c:v>
                </c:pt>
                <c:pt idx="7">
                  <c:v>5</c:v>
                </c:pt>
                <c:pt idx="8">
                  <c:v>6</c:v>
                </c:pt>
                <c:pt idx="9">
                  <c:v>2</c:v>
                </c:pt>
                <c:pt idx="10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46-4C9C-9A46-E638CF364A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62545200"/>
        <c:axId val="1318307776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折扣等級_原價等級!$A$40</c15:sqref>
                        </c15:formulaRef>
                      </c:ext>
                    </c:extLst>
                    <c:strCache>
                      <c:ptCount val="1"/>
                      <c:pt idx="0">
                        <c:v>N2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折扣等級_原價等級!$B$38:$L$38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折扣等級_原價等級!$B$40:$L$40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3</c:v>
                      </c:pt>
                      <c:pt idx="1">
                        <c:v>8</c:v>
                      </c:pt>
                      <c:pt idx="2">
                        <c:v>5</c:v>
                      </c:pt>
                      <c:pt idx="3">
                        <c:v>7</c:v>
                      </c:pt>
                      <c:pt idx="4">
                        <c:v>7</c:v>
                      </c:pt>
                      <c:pt idx="5">
                        <c:v>5</c:v>
                      </c:pt>
                      <c:pt idx="6">
                        <c:v>8</c:v>
                      </c:pt>
                      <c:pt idx="7">
                        <c:v>4</c:v>
                      </c:pt>
                      <c:pt idx="8">
                        <c:v>6</c:v>
                      </c:pt>
                      <c:pt idx="9">
                        <c:v>2</c:v>
                      </c:pt>
                      <c:pt idx="10">
                        <c:v>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7646-4C9C-9A46-E638CF364A00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折扣等級_原價等級!$A$41</c15:sqref>
                        </c15:formulaRef>
                      </c:ext>
                    </c:extLst>
                    <c:strCache>
                      <c:ptCount val="1"/>
                      <c:pt idx="0">
                        <c:v>N3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6"/>
                    </a:solidFill>
                    <a:ln w="9525">
                      <a:solidFill>
                        <a:schemeClr val="accent6"/>
                      </a:solidFill>
                    </a:ln>
                    <a:effectLst/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折扣等級_原價等級!$B$38:$L$38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折扣等級_原價等級!$B$41:$L$41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2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5</c:v>
                      </c:pt>
                      <c:pt idx="4">
                        <c:v>3</c:v>
                      </c:pt>
                      <c:pt idx="5">
                        <c:v>7</c:v>
                      </c:pt>
                      <c:pt idx="6">
                        <c:v>2</c:v>
                      </c:pt>
                      <c:pt idx="7">
                        <c:v>4</c:v>
                      </c:pt>
                      <c:pt idx="8">
                        <c:v>4</c:v>
                      </c:pt>
                      <c:pt idx="9">
                        <c:v>2</c:v>
                      </c:pt>
                      <c:pt idx="10">
                        <c:v>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7646-4C9C-9A46-E638CF364A00}"/>
                  </c:ext>
                </c:extLst>
              </c15:ser>
            </c15:filteredLineSeries>
          </c:ext>
        </c:extLst>
      </c:lineChart>
      <c:catAx>
        <c:axId val="14625452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/>
                  <a:t>原價等級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18307776"/>
        <c:crosses val="autoZero"/>
        <c:auto val="1"/>
        <c:lblAlgn val="ctr"/>
        <c:lblOffset val="100"/>
        <c:noMultiLvlLbl val="0"/>
      </c:catAx>
      <c:valAx>
        <c:axId val="1318307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wordArtVertRtl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/>
                  <a:t>折扣等級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wordArtVertRtl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462545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折扣等級_原價等級!$A$45</c:f>
              <c:strCache>
                <c:ptCount val="1"/>
                <c:pt idx="0">
                  <c:v>佔比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B03-4C02-AC18-8E8DB538D712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B03-4C02-AC18-8E8DB538D712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B03-4C02-AC18-8E8DB538D712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B03-4C02-AC18-8E8DB538D712}"/>
              </c:ext>
            </c:extLst>
          </c:dPt>
          <c:dLbls>
            <c:dLbl>
              <c:idx val="0"/>
              <c:layout>
                <c:manualLayout>
                  <c:x val="4.2547072920232798E-2"/>
                  <c:y val="-0.1432534084918248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03-4C02-AC18-8E8DB538D712}"/>
                </c:ext>
              </c:extLst>
            </c:dLbl>
            <c:dLbl>
              <c:idx val="1"/>
              <c:layout>
                <c:manualLayout>
                  <c:x val="-1.5129236562820995E-2"/>
                  <c:y val="1.957788615823455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03-4C02-AC18-8E8DB538D712}"/>
                </c:ext>
              </c:extLst>
            </c:dLbl>
            <c:dLbl>
              <c:idx val="2"/>
              <c:layout>
                <c:manualLayout>
                  <c:x val="-1.2854520902278475E-2"/>
                  <c:y val="-2.0000744598557959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B03-4C02-AC18-8E8DB538D712}"/>
                </c:ext>
              </c:extLst>
            </c:dLbl>
            <c:dLbl>
              <c:idx val="3"/>
              <c:layout>
                <c:manualLayout>
                  <c:x val="1.4189632545931759E-2"/>
                  <c:y val="2.4525789538757965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B03-4C02-AC18-8E8DB538D7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折扣等級_原價等級!$B$44:$E$44</c:f>
              <c:strCache>
                <c:ptCount val="4"/>
                <c:pt idx="0">
                  <c:v>1(1-200)</c:v>
                </c:pt>
                <c:pt idx="1">
                  <c:v>2(201-400)</c:v>
                </c:pt>
                <c:pt idx="2">
                  <c:v>3(401-600)</c:v>
                </c:pt>
                <c:pt idx="3">
                  <c:v>&gt;3(&gt;600)</c:v>
                </c:pt>
              </c:strCache>
            </c:strRef>
          </c:cat>
          <c:val>
            <c:numRef>
              <c:f>折扣等級_原價等級!$B$45:$E$45</c:f>
              <c:numCache>
                <c:formatCode>0.00%</c:formatCode>
                <c:ptCount val="4"/>
                <c:pt idx="0">
                  <c:v>0.73112278397898889</c:v>
                </c:pt>
                <c:pt idx="1">
                  <c:v>0.16480630334865398</c:v>
                </c:pt>
                <c:pt idx="2">
                  <c:v>5.4497701904136574E-2</c:v>
                </c:pt>
                <c:pt idx="3">
                  <c:v>4.9573210768220612E-2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B03-4C02-AC18-8E8DB538D71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折扣等級_原價等級2!$A$39</c:f>
              <c:strCache>
                <c:ptCount val="1"/>
                <c:pt idx="0">
                  <c:v>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折扣等級_原價等級2!$B$38:$L$38</c:f>
              <c:strCache>
                <c:ptCount val="11"/>
                <c:pt idx="0">
                  <c:v>0-59</c:v>
                </c:pt>
                <c:pt idx="1">
                  <c:v>60-119</c:v>
                </c:pt>
                <c:pt idx="2">
                  <c:v>120-179</c:v>
                </c:pt>
                <c:pt idx="3">
                  <c:v>180-239</c:v>
                </c:pt>
                <c:pt idx="4">
                  <c:v>240-299</c:v>
                </c:pt>
                <c:pt idx="5">
                  <c:v>300-359</c:v>
                </c:pt>
                <c:pt idx="6">
                  <c:v>360-419</c:v>
                </c:pt>
                <c:pt idx="7">
                  <c:v>420-479</c:v>
                </c:pt>
                <c:pt idx="8">
                  <c:v>480-539</c:v>
                </c:pt>
                <c:pt idx="9">
                  <c:v>540-600</c:v>
                </c:pt>
                <c:pt idx="10">
                  <c:v>&gt;600</c:v>
                </c:pt>
              </c:strCache>
            </c:strRef>
          </c:cat>
          <c:val>
            <c:numRef>
              <c:f>折扣等級_原價等級2!$B$39:$L$39</c:f>
              <c:numCache>
                <c:formatCode>General</c:formatCode>
                <c:ptCount val="11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5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A1-4152-8AF2-2250547E1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8787680"/>
        <c:axId val="768784320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折扣等級_原價等級2!$A$40</c15:sqref>
                        </c15:formulaRef>
                      </c:ext>
                    </c:extLst>
                    <c:strCache>
                      <c:ptCount val="1"/>
                      <c:pt idx="0">
                        <c:v>N2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strRef>
                    <c:extLst>
                      <c:ext uri="{02D57815-91ED-43cb-92C2-25804820EDAC}">
                        <c15:formulaRef>
                          <c15:sqref>折扣等級_原價等級2!$B$38:$L$38</c15:sqref>
                        </c15:formulaRef>
                      </c:ext>
                    </c:extLst>
                    <c:strCache>
                      <c:ptCount val="11"/>
                      <c:pt idx="0">
                        <c:v>0-59</c:v>
                      </c:pt>
                      <c:pt idx="1">
                        <c:v>60-119</c:v>
                      </c:pt>
                      <c:pt idx="2">
                        <c:v>120-179</c:v>
                      </c:pt>
                      <c:pt idx="3">
                        <c:v>180-239</c:v>
                      </c:pt>
                      <c:pt idx="4">
                        <c:v>240-299</c:v>
                      </c:pt>
                      <c:pt idx="5">
                        <c:v>300-359</c:v>
                      </c:pt>
                      <c:pt idx="6">
                        <c:v>360-419</c:v>
                      </c:pt>
                      <c:pt idx="7">
                        <c:v>420-479</c:v>
                      </c:pt>
                      <c:pt idx="8">
                        <c:v>480-539</c:v>
                      </c:pt>
                      <c:pt idx="9">
                        <c:v>540-600</c:v>
                      </c:pt>
                      <c:pt idx="10">
                        <c:v>&gt;600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折扣等級_原價等級2!$B$40:$L$40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8</c:v>
                      </c:pt>
                      <c:pt idx="1">
                        <c:v>5</c:v>
                      </c:pt>
                      <c:pt idx="2">
                        <c:v>2</c:v>
                      </c:pt>
                      <c:pt idx="3">
                        <c:v>5</c:v>
                      </c:pt>
                      <c:pt idx="4">
                        <c:v>3</c:v>
                      </c:pt>
                      <c:pt idx="5">
                        <c:v>5</c:v>
                      </c:pt>
                      <c:pt idx="6">
                        <c:v>4</c:v>
                      </c:pt>
                      <c:pt idx="7">
                        <c:v>6</c:v>
                      </c:pt>
                      <c:pt idx="8">
                        <c:v>3</c:v>
                      </c:pt>
                      <c:pt idx="9">
                        <c:v>4</c:v>
                      </c:pt>
                      <c:pt idx="10">
                        <c:v>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B5A1-4152-8AF2-2250547E1429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折扣等級_原價等級2!$A$41</c15:sqref>
                        </c15:formulaRef>
                      </c:ext>
                    </c:extLst>
                    <c:strCache>
                      <c:ptCount val="1"/>
                      <c:pt idx="0">
                        <c:v>N3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6"/>
                    </a:solidFill>
                    <a:ln w="9525">
                      <a:solidFill>
                        <a:schemeClr val="accent6"/>
                      </a:solidFill>
                    </a:ln>
                    <a:effectLst/>
                  </c:spPr>
                </c:marker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折扣等級_原價等級2!$B$38:$L$38</c15:sqref>
                        </c15:formulaRef>
                      </c:ext>
                    </c:extLst>
                    <c:strCache>
                      <c:ptCount val="11"/>
                      <c:pt idx="0">
                        <c:v>0-59</c:v>
                      </c:pt>
                      <c:pt idx="1">
                        <c:v>60-119</c:v>
                      </c:pt>
                      <c:pt idx="2">
                        <c:v>120-179</c:v>
                      </c:pt>
                      <c:pt idx="3">
                        <c:v>180-239</c:v>
                      </c:pt>
                      <c:pt idx="4">
                        <c:v>240-299</c:v>
                      </c:pt>
                      <c:pt idx="5">
                        <c:v>300-359</c:v>
                      </c:pt>
                      <c:pt idx="6">
                        <c:v>360-419</c:v>
                      </c:pt>
                      <c:pt idx="7">
                        <c:v>420-479</c:v>
                      </c:pt>
                      <c:pt idx="8">
                        <c:v>480-539</c:v>
                      </c:pt>
                      <c:pt idx="9">
                        <c:v>540-600</c:v>
                      </c:pt>
                      <c:pt idx="10">
                        <c:v>&gt;600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折扣等級_原價等級2!$B$41:$L$41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2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8</c:v>
                      </c:pt>
                      <c:pt idx="4">
                        <c:v>4</c:v>
                      </c:pt>
                      <c:pt idx="5">
                        <c:v>4</c:v>
                      </c:pt>
                      <c:pt idx="6">
                        <c:v>3</c:v>
                      </c:pt>
                      <c:pt idx="7">
                        <c:v>9</c:v>
                      </c:pt>
                      <c:pt idx="8">
                        <c:v>3</c:v>
                      </c:pt>
                      <c:pt idx="9">
                        <c:v>4</c:v>
                      </c:pt>
                      <c:pt idx="10">
                        <c:v>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B5A1-4152-8AF2-2250547E1429}"/>
                  </c:ext>
                </c:extLst>
              </c15:ser>
            </c15:filteredLineSeries>
          </c:ext>
        </c:extLst>
      </c:lineChart>
      <c:catAx>
        <c:axId val="7687876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/>
                  <a:t>原價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68784320"/>
        <c:crosses val="autoZero"/>
        <c:auto val="1"/>
        <c:lblAlgn val="ctr"/>
        <c:lblOffset val="100"/>
        <c:noMultiLvlLbl val="0"/>
      </c:catAx>
      <c:valAx>
        <c:axId val="768784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wordArtVertRtl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/>
                  <a:t>折扣等級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wordArtVertRtl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68787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折扣等級_原價等級3!$A$39</c:f>
              <c:strCache>
                <c:ptCount val="1"/>
                <c:pt idx="0">
                  <c:v>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折扣等級_原價等級3!$B$38:$K$38</c:f>
              <c:strCache>
                <c:ptCount val="10"/>
                <c:pt idx="0">
                  <c:v>20-39</c:v>
                </c:pt>
                <c:pt idx="1">
                  <c:v>40-59</c:v>
                </c:pt>
                <c:pt idx="2">
                  <c:v>60-79</c:v>
                </c:pt>
                <c:pt idx="3">
                  <c:v>80-99</c:v>
                </c:pt>
                <c:pt idx="4">
                  <c:v>100-119</c:v>
                </c:pt>
                <c:pt idx="5">
                  <c:v>120-139</c:v>
                </c:pt>
                <c:pt idx="6">
                  <c:v>140-159</c:v>
                </c:pt>
                <c:pt idx="7">
                  <c:v>160-179</c:v>
                </c:pt>
                <c:pt idx="8">
                  <c:v>180-200</c:v>
                </c:pt>
                <c:pt idx="9">
                  <c:v>&gt;200</c:v>
                </c:pt>
              </c:strCache>
            </c:strRef>
          </c:cat>
          <c:val>
            <c:numRef>
              <c:f>折扣等級_原價等級3!$B$39:$K$39</c:f>
              <c:numCache>
                <c:formatCode>General</c:formatCode>
                <c:ptCount val="10"/>
                <c:pt idx="0">
                  <c:v>5</c:v>
                </c:pt>
                <c:pt idx="1">
                  <c:v>8</c:v>
                </c:pt>
                <c:pt idx="2">
                  <c:v>5</c:v>
                </c:pt>
                <c:pt idx="3">
                  <c:v>3</c:v>
                </c:pt>
                <c:pt idx="4">
                  <c:v>5</c:v>
                </c:pt>
                <c:pt idx="5">
                  <c:v>5</c:v>
                </c:pt>
                <c:pt idx="6">
                  <c:v>2</c:v>
                </c:pt>
                <c:pt idx="7">
                  <c:v>5</c:v>
                </c:pt>
                <c:pt idx="8">
                  <c:v>3</c:v>
                </c:pt>
                <c:pt idx="9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D5-40A0-914F-F5A5C231D138}"/>
            </c:ext>
          </c:extLst>
        </c:ser>
        <c:ser>
          <c:idx val="1"/>
          <c:order val="1"/>
          <c:tx>
            <c:strRef>
              <c:f>折扣等級_原價等級3!$A$40</c:f>
              <c:strCache>
                <c:ptCount val="1"/>
                <c:pt idx="0">
                  <c:v>N2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折扣等級_原價等級3!$B$38:$K$38</c:f>
              <c:strCache>
                <c:ptCount val="10"/>
                <c:pt idx="0">
                  <c:v>20-39</c:v>
                </c:pt>
                <c:pt idx="1">
                  <c:v>40-59</c:v>
                </c:pt>
                <c:pt idx="2">
                  <c:v>60-79</c:v>
                </c:pt>
                <c:pt idx="3">
                  <c:v>80-99</c:v>
                </c:pt>
                <c:pt idx="4">
                  <c:v>100-119</c:v>
                </c:pt>
                <c:pt idx="5">
                  <c:v>120-139</c:v>
                </c:pt>
                <c:pt idx="6">
                  <c:v>140-159</c:v>
                </c:pt>
                <c:pt idx="7">
                  <c:v>160-179</c:v>
                </c:pt>
                <c:pt idx="8">
                  <c:v>180-200</c:v>
                </c:pt>
                <c:pt idx="9">
                  <c:v>&gt;200</c:v>
                </c:pt>
              </c:strCache>
            </c:strRef>
          </c:cat>
          <c:val>
            <c:numRef>
              <c:f>折扣等級_原價等級3!$B$40:$K$40</c:f>
              <c:numCache>
                <c:formatCode>General</c:formatCode>
                <c:ptCount val="10"/>
                <c:pt idx="0">
                  <c:v>3</c:v>
                </c:pt>
                <c:pt idx="1">
                  <c:v>6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5</c:v>
                </c:pt>
                <c:pt idx="7">
                  <c:v>4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D5-40A0-914F-F5A5C231D138}"/>
            </c:ext>
          </c:extLst>
        </c:ser>
        <c:ser>
          <c:idx val="2"/>
          <c:order val="2"/>
          <c:tx>
            <c:strRef>
              <c:f>折扣等級_原價等級3!$A$41</c:f>
              <c:strCache>
                <c:ptCount val="1"/>
                <c:pt idx="0">
                  <c:v>N3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折扣等級_原價等級3!$B$38:$K$38</c:f>
              <c:strCache>
                <c:ptCount val="10"/>
                <c:pt idx="0">
                  <c:v>20-39</c:v>
                </c:pt>
                <c:pt idx="1">
                  <c:v>40-59</c:v>
                </c:pt>
                <c:pt idx="2">
                  <c:v>60-79</c:v>
                </c:pt>
                <c:pt idx="3">
                  <c:v>80-99</c:v>
                </c:pt>
                <c:pt idx="4">
                  <c:v>100-119</c:v>
                </c:pt>
                <c:pt idx="5">
                  <c:v>120-139</c:v>
                </c:pt>
                <c:pt idx="6">
                  <c:v>140-159</c:v>
                </c:pt>
                <c:pt idx="7">
                  <c:v>160-179</c:v>
                </c:pt>
                <c:pt idx="8">
                  <c:v>180-200</c:v>
                </c:pt>
                <c:pt idx="9">
                  <c:v>&gt;200</c:v>
                </c:pt>
              </c:strCache>
            </c:strRef>
          </c:cat>
          <c:val>
            <c:numRef>
              <c:f>折扣等級_原價等級3!$B$41:$K$41</c:f>
              <c:numCache>
                <c:formatCode>General</c:formatCode>
                <c:ptCount val="10"/>
                <c:pt idx="0">
                  <c:v>4</c:v>
                </c:pt>
                <c:pt idx="1">
                  <c:v>2</c:v>
                </c:pt>
                <c:pt idx="2">
                  <c:v>8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8</c:v>
                </c:pt>
                <c:pt idx="7">
                  <c:v>2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2D5-40A0-914F-F5A5C231D1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4279072"/>
        <c:axId val="574275232"/>
      </c:lineChart>
      <c:catAx>
        <c:axId val="5742790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sz="1400"/>
                  <a:t>原價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74275232"/>
        <c:crosses val="autoZero"/>
        <c:auto val="1"/>
        <c:lblAlgn val="ctr"/>
        <c:lblOffset val="100"/>
        <c:noMultiLvlLbl val="0"/>
      </c:catAx>
      <c:valAx>
        <c:axId val="574275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wordArtVertRtl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sz="1400" dirty="0"/>
                  <a:t>折扣等級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wordArtVertRtl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74279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88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0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03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244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50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907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732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486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823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479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77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881D0ED-4E0E-43D3-B429-972367B64E27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AB64DED-0FAB-48C6-9385-93757104A7B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453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7F5C0-123A-C902-BBAC-8F6EC01DF8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Steam</a:t>
            </a:r>
            <a:r>
              <a:rPr lang="zh-TW" altLang="en-US" sz="4800" dirty="0"/>
              <a:t>特惠繁中遊戲爬蟲資料分析</a:t>
            </a:r>
            <a:br>
              <a:rPr lang="en-US" altLang="zh-TW" sz="4800" dirty="0"/>
            </a:br>
            <a:endParaRPr lang="zh-TW" altLang="en-US" sz="48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11AAB55-1362-E8C8-BE9C-720269DF50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折扣與時間、評價、原價的關係</a:t>
            </a:r>
          </a:p>
        </p:txBody>
      </p:sp>
    </p:spTree>
    <p:extLst>
      <p:ext uri="{BB962C8B-B14F-4D97-AF65-F5344CB8AC3E}">
        <p14:creationId xmlns:p14="http://schemas.microsoft.com/office/powerpoint/2010/main" val="165792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795A5C-E442-7667-B176-B15BE4F1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轉換資料名稱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4CF483-073A-7008-28B5-2B17A1C45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sz="2400" dirty="0"/>
              <a:t>折扣等級為</a:t>
            </a:r>
            <a:r>
              <a:rPr lang="en-US" altLang="zh-TW" sz="2400" dirty="0"/>
              <a:t>10%</a:t>
            </a:r>
            <a:r>
              <a:rPr lang="zh-TW" altLang="en-US" sz="2400" dirty="0"/>
              <a:t> </a:t>
            </a:r>
            <a:r>
              <a:rPr lang="en-US" altLang="zh-TW" sz="2400" dirty="0"/>
              <a:t>/</a:t>
            </a:r>
            <a:r>
              <a:rPr lang="zh-TW" altLang="en-US" sz="2400" dirty="0"/>
              <a:t> 級</a:t>
            </a:r>
            <a:endParaRPr lang="en-US" altLang="zh-TW" sz="2400" dirty="0"/>
          </a:p>
          <a:p>
            <a:r>
              <a:rPr lang="zh-TW" altLang="en-US" sz="2400" dirty="0"/>
              <a:t>原價等級為</a:t>
            </a:r>
            <a:r>
              <a:rPr lang="en-US" altLang="zh-TW" sz="2400" dirty="0"/>
              <a:t>200</a:t>
            </a:r>
            <a:r>
              <a:rPr lang="zh-TW" altLang="en-US" sz="2400" dirty="0"/>
              <a:t>元 </a:t>
            </a:r>
            <a:r>
              <a:rPr lang="en-US" altLang="zh-TW" sz="2400" dirty="0"/>
              <a:t>/</a:t>
            </a:r>
            <a:r>
              <a:rPr lang="zh-TW" altLang="en-US" sz="2400" dirty="0"/>
              <a:t> 級</a:t>
            </a:r>
            <a:r>
              <a:rPr lang="en-US" altLang="zh-TW" sz="2400" dirty="0"/>
              <a:t>	</a:t>
            </a:r>
          </a:p>
          <a:p>
            <a:r>
              <a:rPr lang="zh-TW" altLang="en-US" sz="24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評價等級</a:t>
            </a:r>
            <a:r>
              <a:rPr lang="zh-TW" altLang="en-US" sz="2400" b="1" dirty="0">
                <a:solidFill>
                  <a:srgbClr val="00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：</a:t>
            </a:r>
            <a:endParaRPr lang="en-US" altLang="zh-TW" sz="2400" b="1" i="0" u="none" strike="noStrike" dirty="0">
              <a:solidFill>
                <a:srgbClr val="000000"/>
              </a:solidFill>
              <a:effectLst/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marL="0" indent="0">
              <a:buNone/>
            </a:pPr>
            <a:r>
              <a:rPr lang="en-US" altLang="zh-TW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	0</a:t>
            </a:r>
            <a:r>
              <a:rPr lang="zh-TW" altLang="en-US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：負評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	1</a:t>
            </a:r>
            <a:r>
              <a:rPr lang="zh-TW" altLang="en-US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：褒貶不一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	2</a:t>
            </a:r>
            <a:r>
              <a:rPr lang="zh-TW" altLang="en-US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：好評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	3</a:t>
            </a:r>
            <a:r>
              <a:rPr lang="zh-TW" altLang="en-US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：大多好評</a:t>
            </a:r>
            <a:endParaRPr lang="en-US" altLang="zh-TW" sz="1800" b="1" i="0" u="none" strike="noStrike" dirty="0">
              <a:solidFill>
                <a:srgbClr val="000000"/>
              </a:solidFill>
              <a:effectLst/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marL="0" indent="0">
              <a:buNone/>
            </a:pPr>
            <a:r>
              <a:rPr lang="en-US" altLang="zh-TW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	4</a:t>
            </a:r>
            <a:r>
              <a:rPr lang="zh-TW" altLang="en-US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：極度好評</a:t>
            </a:r>
            <a:r>
              <a:rPr lang="zh-TW" altLang="en-US" sz="1800" dirty="0"/>
              <a:t> 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	5</a:t>
            </a:r>
            <a:r>
              <a:rPr lang="zh-TW" altLang="en-US" sz="1800" b="1" i="0" u="none" strike="noStrike" dirty="0">
                <a:solidFill>
                  <a:srgbClr val="000000"/>
                </a:solidFill>
                <a:effectLst/>
                <a:latin typeface="新細明體" panose="02020500000000000000" pitchFamily="18" charset="-120"/>
                <a:ea typeface="新細明體" panose="02020500000000000000" pitchFamily="18" charset="-120"/>
              </a:rPr>
              <a:t>：壓倒性好評</a:t>
            </a:r>
            <a:r>
              <a:rPr lang="en-US" altLang="zh-TW" dirty="0"/>
              <a:t>	</a:t>
            </a:r>
            <a:endParaRPr lang="zh-TW" altLang="en-US" sz="24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230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D11242-9812-67BA-4FC9-864FA7AA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相關係數</a:t>
            </a: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1563A69C-272F-D392-846E-B3CA0B0A12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380244"/>
              </p:ext>
            </p:extLst>
          </p:nvPr>
        </p:nvGraphicFramePr>
        <p:xfrm>
          <a:off x="3191069" y="1849923"/>
          <a:ext cx="5809861" cy="43176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5849">
                  <a:extLst>
                    <a:ext uri="{9D8B030D-6E8A-4147-A177-3AD203B41FA5}">
                      <a16:colId xmlns:a16="http://schemas.microsoft.com/office/drawing/2014/main" val="1190293653"/>
                    </a:ext>
                  </a:extLst>
                </a:gridCol>
                <a:gridCol w="1957006">
                  <a:extLst>
                    <a:ext uri="{9D8B030D-6E8A-4147-A177-3AD203B41FA5}">
                      <a16:colId xmlns:a16="http://schemas.microsoft.com/office/drawing/2014/main" val="1790797899"/>
                    </a:ext>
                  </a:extLst>
                </a:gridCol>
                <a:gridCol w="1957006">
                  <a:extLst>
                    <a:ext uri="{9D8B030D-6E8A-4147-A177-3AD203B41FA5}">
                      <a16:colId xmlns:a16="http://schemas.microsoft.com/office/drawing/2014/main" val="341977571"/>
                    </a:ext>
                  </a:extLst>
                </a:gridCol>
              </a:tblGrid>
              <a:tr h="71960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u="none" strike="noStrike" dirty="0">
                          <a:effectLst/>
                        </a:rPr>
                        <a:t>相關係數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u="none" strike="noStrike" dirty="0">
                          <a:effectLst/>
                        </a:rPr>
                        <a:t>折扣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u="none" strike="noStrike">
                          <a:effectLst/>
                        </a:rPr>
                        <a:t>折扣等級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14593492"/>
                  </a:ext>
                </a:extLst>
              </a:tr>
              <a:tr h="71960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u="none" strike="noStrike">
                          <a:effectLst/>
                        </a:rPr>
                        <a:t>上市天數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</a:rPr>
                        <a:t>0.46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>
                          <a:effectLst/>
                        </a:rPr>
                        <a:t>0.45</a:t>
                      </a:r>
                      <a:endParaRPr lang="en-US" altLang="zh-TW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39749470"/>
                  </a:ext>
                </a:extLst>
              </a:tr>
              <a:tr h="71960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u="none" strike="noStrike">
                          <a:effectLst/>
                        </a:rPr>
                        <a:t>上市年數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</a:rPr>
                        <a:t>0.46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</a:rPr>
                        <a:t>0.44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27321781"/>
                  </a:ext>
                </a:extLst>
              </a:tr>
              <a:tr h="71960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u="none" strike="noStrike">
                          <a:effectLst/>
                        </a:rPr>
                        <a:t>上市季度數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</a:rPr>
                        <a:t>0.46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</a:rPr>
                        <a:t>0.45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13141636"/>
                  </a:ext>
                </a:extLst>
              </a:tr>
              <a:tr h="71960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u="none" strike="noStrike">
                          <a:effectLst/>
                        </a:rPr>
                        <a:t>原價等級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>
                          <a:effectLst/>
                        </a:rPr>
                        <a:t>0.16</a:t>
                      </a:r>
                      <a:endParaRPr lang="en-US" altLang="zh-TW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</a:rPr>
                        <a:t>0.14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62623718"/>
                  </a:ext>
                </a:extLst>
              </a:tr>
              <a:tr h="71960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u="none" strike="noStrike">
                          <a:effectLst/>
                        </a:rPr>
                        <a:t>評價等級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>
                          <a:effectLst/>
                        </a:rPr>
                        <a:t>0.00</a:t>
                      </a:r>
                      <a:endParaRPr lang="en-US" altLang="zh-TW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</a:rPr>
                        <a:t>0.00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25508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89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040A7E-B471-1DC9-0264-7DD3E75D7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每個上市年份數量最多的折扣等級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D13D209-D2E2-6674-5E27-48F79DC937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6943098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橢圓 5">
            <a:extLst>
              <a:ext uri="{FF2B5EF4-FFF2-40B4-BE49-F238E27FC236}">
                <a16:creationId xmlns:a16="http://schemas.microsoft.com/office/drawing/2014/main" id="{8A69C1E6-8D3C-B7BE-A3B7-5CD9FF704D70}"/>
              </a:ext>
            </a:extLst>
          </p:cNvPr>
          <p:cNvSpPr/>
          <p:nvPr/>
        </p:nvSpPr>
        <p:spPr>
          <a:xfrm>
            <a:off x="1862932" y="3076575"/>
            <a:ext cx="1504950" cy="15621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F29A925-CE8F-F4A1-B8CE-CBAA89A315B7}"/>
              </a:ext>
            </a:extLst>
          </p:cNvPr>
          <p:cNvSpPr/>
          <p:nvPr/>
        </p:nvSpPr>
        <p:spPr>
          <a:xfrm>
            <a:off x="7143750" y="2076450"/>
            <a:ext cx="1657350" cy="15621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45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937306-9825-5228-71B9-F82B7917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每個評價分數的折扣等級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48BE239-30C7-F68C-5F99-89F5D8398F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40204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0379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AA3FB9-E46C-ED74-9F48-7DBBDF68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每個原價等級的折扣等級</a:t>
            </a:r>
            <a:endParaRPr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B14DC5AF-1A47-1BB4-5176-C21EFDE689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61404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橢圓 2">
            <a:extLst>
              <a:ext uri="{FF2B5EF4-FFF2-40B4-BE49-F238E27FC236}">
                <a16:creationId xmlns:a16="http://schemas.microsoft.com/office/drawing/2014/main" id="{9F66E312-901A-4A5C-39B4-0B9D6063A596}"/>
              </a:ext>
            </a:extLst>
          </p:cNvPr>
          <p:cNvSpPr/>
          <p:nvPr/>
        </p:nvSpPr>
        <p:spPr>
          <a:xfrm>
            <a:off x="3237722" y="1846263"/>
            <a:ext cx="3844213" cy="101703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431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FCA8FD-0351-89E5-1D29-7D0FD057F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每個原價等級的佔比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2501033C-E244-E5B9-6AFA-6CB66AB5E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3317165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橢圓 2">
            <a:extLst>
              <a:ext uri="{FF2B5EF4-FFF2-40B4-BE49-F238E27FC236}">
                <a16:creationId xmlns:a16="http://schemas.microsoft.com/office/drawing/2014/main" id="{F99F641E-22F3-0F34-DDB3-8B699825E025}"/>
              </a:ext>
            </a:extLst>
          </p:cNvPr>
          <p:cNvSpPr/>
          <p:nvPr/>
        </p:nvSpPr>
        <p:spPr>
          <a:xfrm>
            <a:off x="7511142" y="3857625"/>
            <a:ext cx="998376" cy="8864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895A45C-A466-72C4-2BBC-91A564731F59}"/>
              </a:ext>
            </a:extLst>
          </p:cNvPr>
          <p:cNvSpPr/>
          <p:nvPr/>
        </p:nvSpPr>
        <p:spPr>
          <a:xfrm>
            <a:off x="3722914" y="2696547"/>
            <a:ext cx="989045" cy="732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DB77D33-5815-E29D-F2C3-B5DC7E94A1B5}"/>
              </a:ext>
            </a:extLst>
          </p:cNvPr>
          <p:cNvSpPr/>
          <p:nvPr/>
        </p:nvSpPr>
        <p:spPr>
          <a:xfrm>
            <a:off x="4581330" y="1922106"/>
            <a:ext cx="839755" cy="6395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794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BF6AEC-2144-90D2-574D-09FEB7E9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每個原價</a:t>
            </a:r>
            <a:r>
              <a:rPr lang="zh-TW" altLang="en-US" dirty="0"/>
              <a:t>區間</a:t>
            </a:r>
            <a:r>
              <a:rPr lang="zh-TW" altLang="zh-TW" dirty="0"/>
              <a:t>的</a:t>
            </a:r>
            <a:r>
              <a:rPr lang="zh-TW" altLang="en-US" dirty="0"/>
              <a:t>最多的</a:t>
            </a:r>
            <a:r>
              <a:rPr lang="zh-TW" altLang="zh-TW" dirty="0"/>
              <a:t>折扣等級</a:t>
            </a:r>
            <a:endParaRPr lang="zh-TW" altLang="en-US" dirty="0"/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C812634D-5489-2D26-3ACB-37EECF3A01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81799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橢圓 2">
            <a:extLst>
              <a:ext uri="{FF2B5EF4-FFF2-40B4-BE49-F238E27FC236}">
                <a16:creationId xmlns:a16="http://schemas.microsoft.com/office/drawing/2014/main" id="{56B889DF-D6C8-E445-4A47-0ECAB11C7C32}"/>
              </a:ext>
            </a:extLst>
          </p:cNvPr>
          <p:cNvSpPr/>
          <p:nvPr/>
        </p:nvSpPr>
        <p:spPr>
          <a:xfrm>
            <a:off x="5915608" y="1825625"/>
            <a:ext cx="5047861" cy="113217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899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2C299B-F921-2304-AAA8-2CEC4A32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每個原價</a:t>
            </a:r>
            <a:r>
              <a:rPr lang="zh-TW" altLang="en-US" dirty="0"/>
              <a:t>區間</a:t>
            </a:r>
            <a:r>
              <a:rPr lang="zh-TW" altLang="zh-TW" dirty="0"/>
              <a:t>的</a:t>
            </a:r>
            <a:r>
              <a:rPr lang="zh-TW" altLang="en-US" dirty="0"/>
              <a:t>最多的</a:t>
            </a:r>
            <a:r>
              <a:rPr lang="zh-TW" altLang="zh-TW" dirty="0"/>
              <a:t>折扣等級</a:t>
            </a:r>
            <a:r>
              <a:rPr lang="en-US" altLang="zh-TW" dirty="0"/>
              <a:t>2</a:t>
            </a:r>
            <a:endParaRPr lang="zh-TW" altLang="en-US" dirty="0"/>
          </a:p>
        </p:txBody>
      </p:sp>
      <p:graphicFrame>
        <p:nvGraphicFramePr>
          <p:cNvPr id="10" name="內容版面配置區 9">
            <a:extLst>
              <a:ext uri="{FF2B5EF4-FFF2-40B4-BE49-F238E27FC236}">
                <a16:creationId xmlns:a16="http://schemas.microsoft.com/office/drawing/2014/main" id="{5D8F49DB-960D-71F8-64E9-499DC32754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3416315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0138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602364-43B2-CB82-1C58-6B493632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861DDD-F0D3-586B-C851-7DC5C8C87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遊戲折扣與上市到現在的時間差是有關係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大於</a:t>
            </a:r>
            <a:r>
              <a:rPr lang="en-US" altLang="zh-TW" dirty="0"/>
              <a:t>1</a:t>
            </a:r>
            <a:r>
              <a:rPr lang="zh-TW" altLang="en-US" dirty="0"/>
              <a:t>年：折扣等級</a:t>
            </a:r>
            <a:r>
              <a:rPr lang="en-US" altLang="zh-TW" dirty="0"/>
              <a:t>2</a:t>
            </a:r>
            <a:r>
              <a:rPr lang="zh-TW" altLang="en-US" dirty="0"/>
              <a:t>提升至</a:t>
            </a:r>
            <a:r>
              <a:rPr lang="en-US" altLang="zh-TW" dirty="0"/>
              <a:t>5</a:t>
            </a:r>
            <a:r>
              <a:rPr lang="zh-TW" altLang="en-US" dirty="0"/>
              <a:t>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大於</a:t>
            </a:r>
            <a:r>
              <a:rPr lang="en-US" altLang="zh-TW" dirty="0"/>
              <a:t>8</a:t>
            </a:r>
            <a:r>
              <a:rPr lang="zh-TW" altLang="en-US" dirty="0"/>
              <a:t>年：折扣等級</a:t>
            </a:r>
            <a:r>
              <a:rPr lang="en-US" altLang="zh-TW" dirty="0"/>
              <a:t>5</a:t>
            </a:r>
            <a:r>
              <a:rPr lang="zh-TW" altLang="en-US" dirty="0"/>
              <a:t>提升至</a:t>
            </a:r>
            <a:r>
              <a:rPr lang="en-US" altLang="zh-TW" dirty="0"/>
              <a:t>8</a:t>
            </a:r>
            <a:r>
              <a:rPr lang="zh-TW" altLang="en-US" dirty="0"/>
              <a:t>級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原價與折扣的關係不大，但是可以發現這次的特惠遊戲在</a:t>
            </a:r>
            <a:r>
              <a:rPr lang="en-US" altLang="zh-TW" dirty="0"/>
              <a:t>300~1200</a:t>
            </a:r>
            <a:r>
              <a:rPr lang="zh-TW" altLang="en-US" dirty="0"/>
              <a:t>元的部分高達折扣等級</a:t>
            </a:r>
            <a:r>
              <a:rPr lang="en-US" altLang="zh-TW" dirty="0"/>
              <a:t>8</a:t>
            </a:r>
            <a:r>
              <a:rPr lang="zh-TW" altLang="en-US" dirty="0"/>
              <a:t>級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6839076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2322</TotalTime>
  <Words>228</Words>
  <Application>Microsoft Office PowerPoint</Application>
  <PresentationFormat>寬螢幕</PresentationFormat>
  <Paragraphs>59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新細明體</vt:lpstr>
      <vt:lpstr>Calibri</vt:lpstr>
      <vt:lpstr>Calibri Light</vt:lpstr>
      <vt:lpstr>回顧</vt:lpstr>
      <vt:lpstr>Steam特惠繁中遊戲爬蟲資料分析 </vt:lpstr>
      <vt:lpstr>轉換資料名稱</vt:lpstr>
      <vt:lpstr>相關係數</vt:lpstr>
      <vt:lpstr>每個上市年份數量最多的折扣等級</vt:lpstr>
      <vt:lpstr>每個評價分數的折扣等級</vt:lpstr>
      <vt:lpstr>每個原價等級的折扣等級</vt:lpstr>
      <vt:lpstr>每個原價等級的佔比</vt:lpstr>
      <vt:lpstr>每個原價區間的最多的折扣等級</vt:lpstr>
      <vt:lpstr>每個原價區間的最多的折扣等級2</vt:lpstr>
      <vt:lpstr>結論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彥潔 朱</dc:creator>
  <cp:lastModifiedBy>彥潔 朱</cp:lastModifiedBy>
  <cp:revision>4</cp:revision>
  <dcterms:created xsi:type="dcterms:W3CDTF">2026-01-15T23:46:33Z</dcterms:created>
  <dcterms:modified xsi:type="dcterms:W3CDTF">2026-01-21T23:11:36Z</dcterms:modified>
</cp:coreProperties>
</file>